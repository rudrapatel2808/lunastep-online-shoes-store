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7" r:id="rId9"/>
    <p:sldId id="268" r:id="rId10"/>
    <p:sldId id="263" r:id="rId11"/>
    <p:sldId id="269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1ED1-F632-4210-90C6-A382D11BF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093F6-2451-4A5E-8895-4EC3E060B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4393E-9DA6-4572-AB0D-E821272D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07304-0BB5-4E3E-B418-E1A8AC66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A841-FB26-4EE4-8C2D-C085CFBF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7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A3E4-026B-4CB1-A380-37F3420F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DC08-5A3B-4AB4-A062-E74C421A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A18A-65B7-452F-A738-E77A084F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43E1-5458-46D9-A67B-A780637E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BE068-D658-4B4C-A17E-686A9B3C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4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B299-031F-48A8-BCAF-43A16B60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18115-7635-4859-89AD-1CD1191A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BD2AD-50EF-4EAE-B9A9-0CC081A6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55E0-A798-4D66-B6B5-B47E57DF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A5E6C-A0BC-4228-8587-85C28392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0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030D-A634-4E14-B537-6C2DDF9C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739A-C3B5-4B85-A919-A7CD6BBD3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92946-D213-4049-8922-9AA72ED78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2176B-D7C6-4CCA-8566-55052FB9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12D38-CBC9-4791-A7E9-D4C7B4AE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DA2C7-3DB6-4C7C-AC1D-75F03A82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9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F71C-C053-4A0C-83AE-58D0FC89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2367-03F2-4597-8A19-F933044CB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EE887-91FF-42A7-A811-4D714E72C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C855A-5380-4709-8552-A43784B1F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0D7BD-723B-4B9D-8B77-7B53A98FB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905CA-4923-4694-BBEA-6B3F983D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6430E-C4D3-4F74-A745-D2D0E2DE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6AC7A-415C-4B81-ADFB-77F905E6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A675-43E4-45A8-A342-E9FFE7DC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83D32-E0A5-486B-A709-8FC6D15E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31AD2-CD2C-40B2-90DE-D8D6E323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4FA05-660C-4A55-99C4-2C4DED8B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4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30C2D-5DC3-481B-B69C-59A0C136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D4A22-48C6-4820-946E-4304DE2A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0AF28-0D46-4B18-A061-8FD2143E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69F8-1412-4128-9880-8AC18405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3F12-F6A7-48F9-BC16-BC84B3C37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7F5EA-44B0-4529-8817-68EC7BDAF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C7AF3-A07E-4903-9CA1-5088E7C0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8EB96-1803-4AF6-BCBC-E7760E44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92959-7321-4CEF-803F-AEE3C145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8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01A5-5015-48FA-BAB2-405C704A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90792-E833-4345-BA65-DC2EB4004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F9430-3C15-44D8-BC73-9A6363071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B8691-D324-423E-8FA7-C097CB88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D87CB-27CD-4D3C-8662-A94904AC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8D1F8-614C-48DB-82A4-96F9D08E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1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9A92-0D5F-4D2F-9669-22AEAA58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F57B0-0EB1-4D5F-99A5-1999DCA22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CDCC9-5FB0-4470-9912-E22BD6D1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787A-C33F-4015-B4D3-33037DCD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A280-8F94-40B8-97AB-69CC827D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56087-D90A-450B-966B-CDEF83E20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9D8E4-050E-4605-BBF9-4B8DCF5AE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EB7F-A42F-44D4-A516-FDEE43C5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1F178-0123-4A2C-9AC6-F63343ED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6EE3-85D5-4F9B-98E6-8E5CD6EE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0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78EF5-8928-4823-BA5A-A1110E7A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F5535-4259-4BD8-814D-F5D682DBE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96544-3DC1-4721-AB17-5F8723350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AFD8A-A5CD-4C67-A3FF-50AE2C37EBE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37754-F83D-4798-AD12-B1FAEB0D1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5702A-3CD9-490B-9437-A5FEA37A7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E4098-16CC-460A-B51F-6F7D058E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4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th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Semester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Project Presentation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On </a:t>
            </a:r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207B4-D25D-4CDF-B804-FD46CAF2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5842"/>
            <a:ext cx="10204174" cy="282622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Group Number</a:t>
            </a:r>
            <a:r>
              <a:rPr lang="en-US" sz="2000" dirty="0"/>
              <a:t>:20</a:t>
            </a:r>
          </a:p>
          <a:p>
            <a:pPr algn="l"/>
            <a:r>
              <a:rPr lang="en-US" sz="2000" b="1" dirty="0"/>
              <a:t>Group Members</a:t>
            </a:r>
            <a:r>
              <a:rPr lang="en-US" sz="2000" dirty="0"/>
              <a:t>:</a:t>
            </a:r>
          </a:p>
          <a:p>
            <a:pPr algn="l"/>
            <a:r>
              <a:rPr lang="en-US" sz="2000" dirty="0"/>
              <a:t>1. [Mahuvagara Joy </a:t>
            </a:r>
            <a:r>
              <a:rPr lang="en-US" sz="2000" dirty="0" err="1"/>
              <a:t>Hiteshbhai</a:t>
            </a:r>
            <a:r>
              <a:rPr lang="en-US" sz="2000" dirty="0"/>
              <a:t>] [202407100110032]</a:t>
            </a:r>
          </a:p>
          <a:p>
            <a:pPr algn="l"/>
            <a:r>
              <a:rPr lang="en-US" sz="2000" dirty="0"/>
              <a:t>2. [Patel Rudra </a:t>
            </a:r>
            <a:r>
              <a:rPr lang="en-US" sz="2000" dirty="0" err="1"/>
              <a:t>Fulchandbhai</a:t>
            </a:r>
            <a:r>
              <a:rPr lang="en-US" sz="2000" dirty="0"/>
              <a:t>] [202407100110023]</a:t>
            </a:r>
          </a:p>
          <a:p>
            <a:pPr algn="l"/>
            <a:r>
              <a:rPr lang="en-US" sz="2000" dirty="0"/>
              <a:t>3. [Patel Prince </a:t>
            </a:r>
            <a:r>
              <a:rPr lang="en-US" sz="2000" dirty="0" err="1"/>
              <a:t>Prakashbhai</a:t>
            </a:r>
            <a:r>
              <a:rPr lang="en-US" sz="2000" dirty="0"/>
              <a:t>] [20247100110074]</a:t>
            </a:r>
          </a:p>
          <a:p>
            <a:pPr algn="l"/>
            <a:r>
              <a:rPr lang="en-US" sz="2000" dirty="0"/>
              <a:t>4.[Bhavsar Smit </a:t>
            </a:r>
            <a:r>
              <a:rPr lang="en-US" sz="2000" dirty="0" err="1"/>
              <a:t>PiyushKumar</a:t>
            </a:r>
            <a:r>
              <a:rPr lang="en-US" sz="2000" dirty="0"/>
              <a:t>][202407100110057]</a:t>
            </a:r>
          </a:p>
          <a:p>
            <a:pPr algn="l"/>
            <a:r>
              <a:rPr lang="en-US" sz="2000" b="1" dirty="0"/>
              <a:t>Guide Name </a:t>
            </a:r>
            <a:r>
              <a:rPr lang="en-US" sz="2000" dirty="0"/>
              <a:t>:Ms. Abha Damani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C88A1-2E75-45CF-821E-123FA2C0C2F9}"/>
              </a:ext>
            </a:extLst>
          </p:cNvPr>
          <p:cNvSpPr txBox="1"/>
          <p:nvPr/>
        </p:nvSpPr>
        <p:spPr>
          <a:xfrm>
            <a:off x="2305878" y="357809"/>
            <a:ext cx="7911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Babu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Madhav Institute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49241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33DF-71F1-4508-AA91-45BABEF1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Definition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Non-Functional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Case Diagram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Activity Diagram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90723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5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mbria" panose="02040503050406030204" pitchFamily="18" charset="0"/>
                <a:ea typeface="Cambria" panose="02040503050406030204" pitchFamily="18" charset="0"/>
              </a:rPr>
              <a:t>Project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Online Shoe Selling System is a web-based e-commerce application.</a:t>
            </a:r>
          </a:p>
          <a:p>
            <a:pPr>
              <a:defRPr sz="2200"/>
            </a:pPr>
            <a:r>
              <a:rPr dirty="0"/>
              <a:t>Simplifies buying and selling footwear online.</a:t>
            </a:r>
          </a:p>
          <a:p>
            <a:pPr>
              <a:defRPr sz="2200"/>
            </a:pPr>
            <a:r>
              <a:rPr dirty="0"/>
              <a:t>Supports browsing, cart, </a:t>
            </a:r>
            <a:r>
              <a:rPr dirty="0" err="1"/>
              <a:t>wishlist</a:t>
            </a:r>
            <a:r>
              <a:rPr dirty="0"/>
              <a:t>, checkout, orders and tracking.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3CA31B-ABE9-366A-75D0-E3616700E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3471"/>
            <a:ext cx="3200400" cy="213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A3B6A1-A65B-E395-B8DD-CC5E47B4B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17252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mbria" panose="02040503050406030204" pitchFamily="18" charset="0"/>
                <a:ea typeface="Cambria" panose="02040503050406030204" pitchFamily="18" charset="0"/>
              </a:rPr>
              <a:t>Purpose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Provide secure and user-friendly online shopping.</a:t>
            </a:r>
          </a:p>
          <a:p>
            <a:pPr>
              <a:defRPr sz="2200"/>
            </a:pPr>
            <a:r>
              <a:t>Automate product browsing to delivery.</a:t>
            </a:r>
          </a:p>
          <a:p>
            <a:pPr>
              <a:defRPr sz="2200"/>
            </a:pPr>
            <a:r>
              <a:t>Manage products, inventory, orders, users and promotions.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575AF-D525-4DE8-D189-23429DCF6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3471"/>
            <a:ext cx="3200400" cy="213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93119B-CDF5-C32F-637C-3035E886A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7092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F09E-1C05-31BF-0BAF-A9C3B65C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Identification of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65C47-D33E-1553-0461-428CD32B5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Customers need a convenient way to purchase shoes online. </a:t>
            </a:r>
          </a:p>
          <a:p>
            <a:pPr lvl="0"/>
            <a:r>
              <a:rPr lang="en-IN" dirty="0"/>
              <a:t>Traditional shopping is time-consuming. </a:t>
            </a:r>
          </a:p>
          <a:p>
            <a:pPr lvl="0"/>
            <a:r>
              <a:rPr lang="en-IN" dirty="0"/>
              <a:t>Sellers need an automated inventory and order management system. </a:t>
            </a:r>
          </a:p>
          <a:p>
            <a:pPr lvl="0"/>
            <a:r>
              <a:rPr lang="en-IN" dirty="0"/>
              <a:t>Secure online payment and order tracking improve customer satisfaction. </a:t>
            </a:r>
          </a:p>
          <a:p>
            <a:pPr lvl="0"/>
            <a:r>
              <a:rPr lang="en-IN" dirty="0"/>
              <a:t>The system reduces manual work and improves business efficiency.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33284-D27F-F171-545B-A2E9C8949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3471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61B7CF-2790-61EB-6C23-3C8BAC8F6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7092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5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User Registration – Allows new users to create an account. </a:t>
            </a:r>
          </a:p>
          <a:p>
            <a:pPr lvl="0"/>
            <a:r>
              <a:rPr lang="en-IN" dirty="0"/>
              <a:t>User Login – Authenticates users securely. </a:t>
            </a:r>
          </a:p>
          <a:p>
            <a:pPr lvl="0"/>
            <a:r>
              <a:rPr lang="en-IN" dirty="0"/>
              <a:t>Product Management – Enables admins to manage products. </a:t>
            </a:r>
          </a:p>
          <a:p>
            <a:pPr lvl="0"/>
            <a:r>
              <a:rPr lang="en-IN" dirty="0"/>
              <a:t>Product Search &amp; Browsing – Lets users search and filter shoes. </a:t>
            </a:r>
          </a:p>
          <a:p>
            <a:pPr lvl="0"/>
            <a:r>
              <a:rPr lang="en-IN" dirty="0"/>
              <a:t>Shopping Cart &amp; Wishlist – Add, remove, and update products. </a:t>
            </a:r>
          </a:p>
          <a:p>
            <a:pPr lvl="0"/>
            <a:r>
              <a:rPr lang="en-IN" dirty="0"/>
              <a:t>Checkout &amp; Payment – Complete purchases securely. </a:t>
            </a:r>
          </a:p>
          <a:p>
            <a:pPr lvl="0"/>
            <a:r>
              <a:rPr lang="en-IN" dirty="0"/>
              <a:t>Order Tracking – Track order status. </a:t>
            </a:r>
          </a:p>
          <a:p>
            <a:pPr lvl="0"/>
            <a:r>
              <a:rPr lang="en-IN" dirty="0"/>
              <a:t>Coupons &amp; Discounts – Apply promotional offers. </a:t>
            </a:r>
          </a:p>
          <a:p>
            <a:pPr lvl="0"/>
            <a:r>
              <a:rPr lang="en-IN" dirty="0"/>
              <a:t>Notifications – Receive order updates.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C5CE9-F401-4DDE-DD6A-7FFC7C3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3471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2BA1C7-C36C-76D2-B003-8F83ED43B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7092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mbria" panose="02040503050406030204" pitchFamily="18" charset="0"/>
                <a:ea typeface="Cambria" panose="02040503050406030204" pitchFamily="18" charset="0"/>
              </a:rP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Security – Authentication, authorization, and encrypted passwords. </a:t>
            </a:r>
          </a:p>
          <a:p>
            <a:pPr lvl="0"/>
            <a:r>
              <a:rPr lang="en-IN" dirty="0"/>
              <a:t>Performance – Fast response time with support for multiple users. </a:t>
            </a:r>
          </a:p>
          <a:p>
            <a:pPr lvl="0"/>
            <a:r>
              <a:rPr lang="en-IN" dirty="0"/>
              <a:t>Reliability – Accurate and consistent data storage. </a:t>
            </a:r>
          </a:p>
          <a:p>
            <a:pPr lvl="0"/>
            <a:r>
              <a:rPr lang="en-IN" dirty="0"/>
              <a:t>Availability – Available 24×7 with minimal downtime. </a:t>
            </a:r>
          </a:p>
          <a:p>
            <a:pPr lvl="0"/>
            <a:r>
              <a:rPr lang="en-IN" dirty="0"/>
              <a:t>Scalability – </a:t>
            </a:r>
            <a:r>
              <a:rPr lang="en-IN" dirty="0" err="1"/>
              <a:t>Handales</a:t>
            </a:r>
            <a:r>
              <a:rPr lang="en-IN" dirty="0"/>
              <a:t> future growth in users and products. </a:t>
            </a:r>
          </a:p>
          <a:p>
            <a:pPr lvl="0"/>
            <a:r>
              <a:rPr lang="en-IN" dirty="0"/>
              <a:t>Usability – Responsive and user-friendly interface.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CF2B3-79F1-478F-84FF-8E28EF664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3471"/>
            <a:ext cx="3200400" cy="2133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AAD924-939B-011D-91F7-E824B8351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17252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AA5A-C2BA-CBC6-1F52-E036F7D8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1EC4-5EB2-C8A6-7AB2-B1B926B45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9DC58-42CD-34B0-5247-06E56CC17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3471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AECD67-13AD-35A5-B5C1-E372AA340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7092"/>
            <a:ext cx="1600200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D97B55-6FFD-7FA6-985F-CCCB79BE2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17252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1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C5D7-C0A7-EEF9-5D98-438C346A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Activity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0F5CB-9170-BFD5-B6A7-5E7175665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17252"/>
            <a:ext cx="1600200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53B89D-732E-FA0F-020E-10316D890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7495"/>
            <a:ext cx="3200400" cy="21336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763A10-8BB6-46C8-1387-0058750B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7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  <a:endParaRPr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F87E96B-F01D-B959-7B94-6D0AD21E5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6951334"/>
              </p:ext>
            </p:extLst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682324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187461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276304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71904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741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326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770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102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51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871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85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38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669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45357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CDB639F-5010-202C-51CD-5C90FA9B4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301414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4203F-C28A-9B5C-F8C8-4572A9A3B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17252"/>
            <a:ext cx="1600200" cy="16002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BE8B236-495F-602F-D48D-7BE2CE5A9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509389"/>
              </p:ext>
            </p:extLst>
          </p:nvPr>
        </p:nvGraphicFramePr>
        <p:xfrm>
          <a:off x="1087120" y="2163174"/>
          <a:ext cx="10266680" cy="382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670">
                  <a:extLst>
                    <a:ext uri="{9D8B030D-6E8A-4147-A177-3AD203B41FA5}">
                      <a16:colId xmlns:a16="http://schemas.microsoft.com/office/drawing/2014/main" val="3282428668"/>
                    </a:ext>
                  </a:extLst>
                </a:gridCol>
                <a:gridCol w="2566670">
                  <a:extLst>
                    <a:ext uri="{9D8B030D-6E8A-4147-A177-3AD203B41FA5}">
                      <a16:colId xmlns:a16="http://schemas.microsoft.com/office/drawing/2014/main" val="25609681"/>
                    </a:ext>
                  </a:extLst>
                </a:gridCol>
                <a:gridCol w="2566670">
                  <a:extLst>
                    <a:ext uri="{9D8B030D-6E8A-4147-A177-3AD203B41FA5}">
                      <a16:colId xmlns:a16="http://schemas.microsoft.com/office/drawing/2014/main" val="405754050"/>
                    </a:ext>
                  </a:extLst>
                </a:gridCol>
                <a:gridCol w="2566670">
                  <a:extLst>
                    <a:ext uri="{9D8B030D-6E8A-4147-A177-3AD203B41FA5}">
                      <a16:colId xmlns:a16="http://schemas.microsoft.com/office/drawing/2014/main" val="4285586796"/>
                    </a:ext>
                  </a:extLst>
                </a:gridCol>
              </a:tblGrid>
              <a:tr h="38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Field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931461"/>
                  </a:ext>
                </a:extLst>
              </a:tr>
              <a:tr h="38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652817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Name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110239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 Email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39836"/>
                  </a:ext>
                </a:extLst>
              </a:tr>
              <a:tr h="38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097898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Shoe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020557"/>
                  </a:ext>
                </a:extLst>
              </a:tr>
              <a:tr h="38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Shoe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061631"/>
                  </a:ext>
                </a:extLst>
              </a:tr>
              <a:tr h="38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722210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total_amount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089473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Product Quantity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9878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F8BF-A156-0DEF-5BFF-BAE6FD4D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Template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9B4C6-78FF-DC57-67A9-706D65BAE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Home Page </a:t>
            </a:r>
          </a:p>
          <a:p>
            <a:pPr lvl="0"/>
            <a:r>
              <a:rPr lang="en-IN" dirty="0"/>
              <a:t>Login Page </a:t>
            </a:r>
          </a:p>
          <a:p>
            <a:pPr lvl="0"/>
            <a:r>
              <a:rPr lang="en-IN" dirty="0"/>
              <a:t>Product Page </a:t>
            </a:r>
          </a:p>
          <a:p>
            <a:pPr lvl="0"/>
            <a:r>
              <a:rPr lang="en-IN" dirty="0"/>
              <a:t>Cart Page </a:t>
            </a:r>
          </a:p>
          <a:p>
            <a:pPr lvl="0"/>
            <a:r>
              <a:rPr lang="en-IN" dirty="0"/>
              <a:t>Checkout Page </a:t>
            </a:r>
          </a:p>
          <a:p>
            <a:pPr lvl="0"/>
            <a:r>
              <a:rPr lang="en-IN" dirty="0"/>
              <a:t>Admin Dashboard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1D51C-3348-FC4E-42E3-D60BF0D0B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533" y="11575"/>
            <a:ext cx="1600200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DE2FD9-7829-5AB2-BEF9-B8B645BA1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7495"/>
            <a:ext cx="32004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42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Provides complete online shoe shopping solution.</a:t>
            </a:r>
          </a:p>
          <a:p>
            <a:pPr>
              <a:defRPr sz="2200"/>
            </a:pPr>
            <a:r>
              <a:rPr dirty="0"/>
              <a:t>Improves customer experience and store management.</a:t>
            </a:r>
          </a:p>
          <a:p>
            <a:pPr>
              <a:defRPr sz="2200"/>
            </a:pPr>
            <a:r>
              <a:rPr dirty="0"/>
              <a:t>Secure, scalable and efficient e-commerce platform.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603F6-60C5-9FE1-9334-78F8DE4D4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082" y="-273471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268380-122C-A65A-9304-682AA154C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548" y="17252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441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Office Theme</vt:lpstr>
      <vt:lpstr>5th Semester Project Presentation  On  Project Title</vt:lpstr>
      <vt:lpstr>Table of Content</vt:lpstr>
      <vt:lpstr>Project Definition</vt:lpstr>
      <vt:lpstr>Purpose &amp; Scope</vt:lpstr>
      <vt:lpstr>Identification of Need</vt:lpstr>
      <vt:lpstr>Functional Requirements</vt:lpstr>
      <vt:lpstr>Non-Functional Requirements</vt:lpstr>
      <vt:lpstr>Use Case Diagram</vt:lpstr>
      <vt:lpstr>Activity Diagram</vt:lpstr>
      <vt:lpstr>Data Dictionary</vt:lpstr>
      <vt:lpstr>Template Integration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KKP</dc:creator>
  <cp:lastModifiedBy>Joy Mahuvagara</cp:lastModifiedBy>
  <cp:revision>22</cp:revision>
  <dcterms:created xsi:type="dcterms:W3CDTF">2025-08-13T08:10:01Z</dcterms:created>
  <dcterms:modified xsi:type="dcterms:W3CDTF">2026-08-04T08:07:25Z</dcterms:modified>
</cp:coreProperties>
</file>